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67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98280" y="2930652"/>
            <a:ext cx="1371600" cy="905256"/>
          </a:xfrm>
          <a:prstGeom prst="ellipse">
            <a:avLst/>
          </a:prstGeom>
          <a:ln w="17780">
            <a:solidFill>
              <a:srgbClr val="1AA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31352" y="2556480"/>
            <a:ext cx="2505456" cy="1653601"/>
          </a:xfrm>
          <a:prstGeom prst="ellipse">
            <a:avLst/>
          </a:prstGeom>
          <a:ln w="17780">
            <a:solidFill>
              <a:srgbClr val="FF7A45">
                <a:alpha val="9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64424" y="2182307"/>
            <a:ext cx="3639312" cy="2401946"/>
          </a:xfrm>
          <a:prstGeom prst="ellipse">
            <a:avLst/>
          </a:prstGeom>
          <a:ln w="17780">
            <a:solidFill>
              <a:srgbClr val="1AA6C0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97496" y="1808135"/>
            <a:ext cx="4773168" cy="3150291"/>
          </a:xfrm>
          <a:prstGeom prst="ellipse">
            <a:avLst/>
          </a:prstGeom>
          <a:ln w="17780">
            <a:solidFill>
              <a:srgbClr val="FF7A45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30568" y="1433962"/>
            <a:ext cx="5907024" cy="3898636"/>
          </a:xfrm>
          <a:prstGeom prst="ellipse">
            <a:avLst/>
          </a:prstGeom>
          <a:ln w="17780">
            <a:solidFill>
              <a:srgbClr val="1AA6C0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FINAL DE GRADO · INGENIERÍA MECÁNICA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55448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numérico de flujos</a:t>
            </a:r>
            <a:endParaRPr lang="en-US" sz="4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magnetohidrodinámicos en</a:t>
            </a:r>
            <a:endParaRPr lang="en-US" sz="4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y expansiones</a:t>
            </a:r>
            <a:endParaRPr lang="en-US" sz="4300" dirty="0"/>
          </a:p>
        </p:txBody>
      </p:sp>
      <p:sp>
        <p:nvSpPr>
          <p:cNvPr id="9" name="Shape 7"/>
          <p:cNvSpPr/>
          <p:nvPr/>
        </p:nvSpPr>
        <p:spPr>
          <a:xfrm>
            <a:off x="777240" y="4160520"/>
            <a:ext cx="2926080" cy="0"/>
          </a:xfrm>
          <a:prstGeom prst="line">
            <a:avLst/>
          </a:prstGeom>
          <a:noFill/>
          <a:ln w="3175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Llavina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Principe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5715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 Politècnica de Catalunya · EEBE  ·  Junio 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561320" y="502920"/>
            <a:ext cx="640080" cy="64008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figs/icw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939" y="656539"/>
            <a:ext cx="332842" cy="332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2777947"/>
            <a:ext cx="1280160" cy="844906"/>
          </a:xfrm>
          <a:prstGeom prst="ellipse">
            <a:avLst/>
          </a:prstGeom>
          <a:ln w="17780">
            <a:solidFill>
              <a:srgbClr val="1AA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2403775"/>
            <a:ext cx="2414016" cy="1593251"/>
          </a:xfrm>
          <a:prstGeom prst="ellipse">
            <a:avLst/>
          </a:prstGeom>
          <a:ln w="17780">
            <a:solidFill>
              <a:srgbClr val="FF7A45">
                <a:alpha val="9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84464" y="2029602"/>
            <a:ext cx="3547872" cy="2341596"/>
          </a:xfrm>
          <a:prstGeom prst="ellipse">
            <a:avLst/>
          </a:prstGeom>
          <a:ln w="17780">
            <a:solidFill>
              <a:srgbClr val="1AA6C0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17536" y="1655430"/>
            <a:ext cx="4681728" cy="3089940"/>
          </a:xfrm>
          <a:prstGeom prst="ellipse">
            <a:avLst/>
          </a:prstGeom>
          <a:ln w="17780">
            <a:solidFill>
              <a:srgbClr val="FF7A45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50608" y="1281257"/>
            <a:ext cx="5815584" cy="3838285"/>
          </a:xfrm>
          <a:prstGeom prst="ellipse">
            <a:avLst/>
          </a:prstGeom>
          <a:ln w="17780">
            <a:solidFill>
              <a:srgbClr val="1AA6C0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22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400" dirty="0"/>
          </a:p>
        </p:txBody>
      </p:sp>
      <p:sp>
        <p:nvSpPr>
          <p:cNvPr id="9" name="Shape 7"/>
          <p:cNvSpPr/>
          <p:nvPr/>
        </p:nvSpPr>
        <p:spPr>
          <a:xfrm>
            <a:off x="713232" y="3063240"/>
            <a:ext cx="566928" cy="566928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figs/icw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199303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30723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6118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Sol a la fusión nuclear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estudiar el comportamiento de metales líquidos bajo campos magnéticos intensos.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Sol y la energía de fusión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figs/ic_s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187817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45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Sol se alimenta de fusión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45920" y="207568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núcleo, los núcleos ligeros se fusionan liberando enormes cantidades de energía. Es el mismo proceso que alimenta a todas las estrellas.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777240" cy="77724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figs/ic_a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32954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063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fuente limpia y abundante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1645920" y="349300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combustibles fósiles, la fusión no emite CO₂ durante su operación y genera residuos radiactivos de vida corta y reducidos.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figs/ic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8" y="471281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4480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Reproducirla en la Tierra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645920" y="491032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como ITER buscan demostrar la viabilidad científica y tecnológica de la fusión, recreando los procesos del interior de las estrellas.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Energía de fusión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ol 18">
            <a:extLst>
              <a:ext uri="{FF2B5EF4-FFF2-40B4-BE49-F238E27FC236}">
                <a16:creationId xmlns:a16="http://schemas.microsoft.com/office/drawing/2014/main" id="{527DC162-03E1-032F-B94F-D5C387A64327}"/>
              </a:ext>
            </a:extLst>
          </p:cNvPr>
          <p:cNvSpPr/>
          <p:nvPr/>
        </p:nvSpPr>
        <p:spPr>
          <a:xfrm>
            <a:off x="751974" y="1780336"/>
            <a:ext cx="547437" cy="590703"/>
          </a:xfrm>
          <a:prstGeom prst="su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Nube 19">
            <a:extLst>
              <a:ext uri="{FF2B5EF4-FFF2-40B4-BE49-F238E27FC236}">
                <a16:creationId xmlns:a16="http://schemas.microsoft.com/office/drawing/2014/main" id="{37CE8EF9-8946-C942-2115-7E103BB5A3E4}"/>
              </a:ext>
            </a:extLst>
          </p:cNvPr>
          <p:cNvSpPr/>
          <p:nvPr/>
        </p:nvSpPr>
        <p:spPr>
          <a:xfrm>
            <a:off x="826618" y="4712818"/>
            <a:ext cx="404165" cy="404165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Reproducir el Sol: el reactor tokamak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897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 un reactor tipo tokamak (K-DEMO, CC BY 3.0)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29400" y="18745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plasma alcanza varios millones de grados: no puede tocar ningún material sólido.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confina mediante campos magnéticos intensos que lo mantienen alejado de las paredes.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generada debe extraerse de forma eficiente y segura.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Alrededor de la cámara se sitúan mantos reproductores (breeding blankets) con metales líquidos.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El tokamak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5553B68-88D8-E5D4-BCE4-79BA53C6D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39" y="2143081"/>
            <a:ext cx="5370773" cy="35261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magnetohidrodinámica?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refrigeración con metales líquidos conductores, inmersos en campos magnéticos intensos, hace aparecer fenómenos magnetohidrodinámicos (MHD) que condicionan todo el flujo.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624328"/>
            <a:ext cx="731520" cy="73152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figs/ic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799893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Fluido conductor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959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Litio o aleaciones de plomo-litio circulan como refrigerante y participan en la producción de tritio.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10712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85032" y="2624328"/>
            <a:ext cx="731520" cy="73152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figs/ic_mag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597" y="2799893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 magnético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3959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intenso campo de confinamiento atraviesa el fluido e induce corrientes eléctricas en su interior.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72784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47104" y="2624328"/>
            <a:ext cx="731520" cy="73152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figs/ic_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69" y="2799893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Fuerza de Lorentz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01384" y="3959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interacción corriente–campo frena y redistribuye el flujo, modificando velocidad y presión.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134856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409176" y="2624328"/>
            <a:ext cx="731520" cy="73152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figs/ic_te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4741" y="2799893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en el diseño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63456" y="3959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Cambian los perfiles de velocidad, aumentan las pérdidas de </a:t>
            </a:r>
            <a:r>
              <a:rPr lang="en-US" sz="1250" dirty="0" err="1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</a:t>
            </a: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Por qué la MHD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Arco 27">
            <a:extLst>
              <a:ext uri="{FF2B5EF4-FFF2-40B4-BE49-F238E27FC236}">
                <a16:creationId xmlns:a16="http://schemas.microsoft.com/office/drawing/2014/main" id="{10946E97-6923-3F72-2DEC-76F14899FA2C}"/>
              </a:ext>
            </a:extLst>
          </p:cNvPr>
          <p:cNvSpPr/>
          <p:nvPr/>
        </p:nvSpPr>
        <p:spPr>
          <a:xfrm flipH="1">
            <a:off x="3860597" y="2787717"/>
            <a:ext cx="614477" cy="62756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o 28">
            <a:extLst>
              <a:ext uri="{FF2B5EF4-FFF2-40B4-BE49-F238E27FC236}">
                <a16:creationId xmlns:a16="http://schemas.microsoft.com/office/drawing/2014/main" id="{9988824F-6BD7-D78C-C4AB-A5394AD7A83B}"/>
              </a:ext>
            </a:extLst>
          </p:cNvPr>
          <p:cNvSpPr/>
          <p:nvPr/>
        </p:nvSpPr>
        <p:spPr>
          <a:xfrm flipH="1">
            <a:off x="3975250" y="2882221"/>
            <a:ext cx="470563" cy="487343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o 29">
            <a:extLst>
              <a:ext uri="{FF2B5EF4-FFF2-40B4-BE49-F238E27FC236}">
                <a16:creationId xmlns:a16="http://schemas.microsoft.com/office/drawing/2014/main" id="{C49CC164-8EBC-DF3F-097D-BC6FAF4DCD21}"/>
              </a:ext>
            </a:extLst>
          </p:cNvPr>
          <p:cNvSpPr/>
          <p:nvPr/>
        </p:nvSpPr>
        <p:spPr>
          <a:xfrm flipH="1">
            <a:off x="4103579" y="2998502"/>
            <a:ext cx="242573" cy="21149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ergamino: vertical 30">
            <a:extLst>
              <a:ext uri="{FF2B5EF4-FFF2-40B4-BE49-F238E27FC236}">
                <a16:creationId xmlns:a16="http://schemas.microsoft.com/office/drawing/2014/main" id="{8A75CA22-34B5-A613-DF3A-83219C099C8E}"/>
              </a:ext>
            </a:extLst>
          </p:cNvPr>
          <p:cNvSpPr/>
          <p:nvPr/>
        </p:nvSpPr>
        <p:spPr>
          <a:xfrm>
            <a:off x="9564985" y="2799893"/>
            <a:ext cx="419902" cy="417266"/>
          </a:xfrm>
          <a:prstGeom prst="vertic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y alcance del trabajo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84248"/>
            <a:ext cx="640080" cy="64008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figs/icw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13786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flujos MHD mediante simulación numérica en distintas geometrías.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la influencia de parámetros como el número de Hartmann y de Reynolds.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herramientas propias de postproceso y visualización.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los resultados frente a referencias de la literatura.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69164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75120" y="1984248"/>
            <a:ext cx="640080" cy="64008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figs/ic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39" y="21378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842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6720840" y="288036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de estudio: el problema de Hunt y una expansión brusca.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Postproceso de resultados ya simulados (no se desarrolla el modelo numérico).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validación experimental propia: comparación con datos publicados.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Perfiles, isolíneas, corrientes, presión y líneas de corriente.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Objetivos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2777947"/>
            <a:ext cx="1280160" cy="844906"/>
          </a:xfrm>
          <a:prstGeom prst="ellipse">
            <a:avLst/>
          </a:prstGeom>
          <a:ln w="17780">
            <a:solidFill>
              <a:srgbClr val="1AA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2403775"/>
            <a:ext cx="2414016" cy="1593251"/>
          </a:xfrm>
          <a:prstGeom prst="ellipse">
            <a:avLst/>
          </a:prstGeom>
          <a:ln w="17780">
            <a:solidFill>
              <a:srgbClr val="FF7A45">
                <a:alpha val="9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84464" y="2029602"/>
            <a:ext cx="3547872" cy="2341596"/>
          </a:xfrm>
          <a:prstGeom prst="ellipse">
            <a:avLst/>
          </a:prstGeom>
          <a:ln w="17780">
            <a:solidFill>
              <a:srgbClr val="1AA6C0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17536" y="1655430"/>
            <a:ext cx="4681728" cy="3089940"/>
          </a:xfrm>
          <a:prstGeom prst="ellipse">
            <a:avLst/>
          </a:prstGeom>
          <a:ln w="17780">
            <a:solidFill>
              <a:srgbClr val="FF7A45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50608" y="1281257"/>
            <a:ext cx="5815584" cy="3838285"/>
          </a:xfrm>
          <a:prstGeom prst="ellipse">
            <a:avLst/>
          </a:prstGeom>
          <a:ln w="17780">
            <a:solidFill>
              <a:srgbClr val="1AA6C0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22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400" dirty="0"/>
          </a:p>
        </p:txBody>
      </p:sp>
      <p:sp>
        <p:nvSpPr>
          <p:cNvPr id="9" name="Shape 7"/>
          <p:cNvSpPr/>
          <p:nvPr/>
        </p:nvSpPr>
        <p:spPr>
          <a:xfrm>
            <a:off x="713232" y="3063240"/>
            <a:ext cx="566928" cy="566928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figs/icw_a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199303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30723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6118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Ecuaciones, fuerzas y parámetros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bases físicas y matemáticas que gobiernan los flujos MHD estudiados.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Navier–Stokes a la MHD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consideran fluidos incompresibles y conductores. La conservación de masa impone  ∇·v = 0.  La diferencia clave está en la ecuación de cantidad de movimiento: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 CONVENCIONAL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</a:t>
            </a:r>
            <a:r>
              <a:rPr lang="en-US" sz="1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∂v/∂t + (v·∇)v ] = −∇p + μ∇²v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Inercia y convección a la izquierda.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de presión y fuerzas viscosas a la derecha.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velocidad parabólico desarrollado.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5486400" cy="3566160"/>
          </a:xfrm>
          <a:prstGeom prst="roundRect">
            <a:avLst>
              <a:gd name="adj" fmla="val 2564"/>
            </a:avLst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MHD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3154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CE4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[ ∂v/∂t + (v·∇)v ] = −∇p + μ∇²v + </a:t>
            </a:r>
            <a:r>
              <a:rPr lang="en-US" sz="19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× 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0" y="41148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término extra: la fuerza de Lorentz  j × B.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Frena el fluido y redistribuye el flujo según la geometría.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corrientes cumplen además  ∇·j = 0.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Ecuaciones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fuerza de Lorentz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0" y="1783080"/>
            <a:ext cx="48006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8000" y="48006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sobre un conductor con corriente I en un campo B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 err="1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Aproximación</a:t>
            </a: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bajo Reynolds y alto </a:t>
            </a:r>
            <a:r>
              <a:rPr lang="en-US" sz="1500" dirty="0" err="1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Hartmann: el campo aplicado domina sobre el inducido.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Esas corrientes interactúan con B y dan la fuerza de Lorentz  F = j × B.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principal mecanismo de acoplamiento entre el campo magnético y el movimiento del fluido.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931920"/>
            <a:ext cx="3108960" cy="777240"/>
          </a:xfrm>
          <a:prstGeom prst="roundRect">
            <a:avLst>
              <a:gd name="adj" fmla="val 14118"/>
            </a:avLst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872" y="3947569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2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× B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Fuerza de Lorentz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D2466AA-E5CB-B38C-E744-659CBAA7C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515" y="1984248"/>
            <a:ext cx="4059569" cy="27063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adimensionales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A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Reynolds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649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ρv₀L / 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221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Fuerzas inerciales frente a viscosas.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6008" y="2057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36008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Hartmann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6008" y="33649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L √(σ/μ)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38221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Fuerzas electromagnéticas frente a viscosas.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82880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  <a:effectLst>
            <a:outerShdw blurRad="101600" dist="25400" dir="5400000" algn="bl" rotWithShape="0">
              <a:srgbClr val="1B25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49056" y="2057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A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49056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 de interacción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9056" y="33649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Ha² / 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382219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Fuerzas electromagnéticas frente a inerciales.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5138928"/>
            <a:ext cx="640080" cy="64008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figs/ic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5292547"/>
            <a:ext cx="332842" cy="33284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91640" y="5029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Hartmann:  </a:t>
            </a:r>
            <a:r>
              <a:rPr lang="en-US" sz="1400" b="1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40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aumentar Ha aparecen capas límite muy finas junto a las paredes perpendiculares a B, con espesor  δH ∼ L / Ha.  El núcleo del flujo se vuelve cada vez más uniforme.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Adimensionales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de contorno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13232" cy="713232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figs/ic_wa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1954256"/>
            <a:ext cx="370881" cy="3708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647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deslizamiento (no-slip)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del fluido se anula en las paredes sólidas. Genera las capas límite viscosas.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713232" cy="713232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figs/ic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56" y="3005816"/>
            <a:ext cx="370881" cy="3708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1635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Entrada y salida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se impulsa mediante un gradiente de presión aplicado a lo largo del conducto.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713232" cy="713232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figs/ic_bor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56" y="4057376"/>
            <a:ext cx="370881" cy="3708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86791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Paredes eléctricamente aislantes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4251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Corriente normal nula: la corriente no atraviesa la superficie. Es lo que caracteriza al problema de Hunt.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4937760"/>
            <a:ext cx="713232" cy="713232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figs/ic_rul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256" y="5108936"/>
            <a:ext cx="370881" cy="3708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9194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estudio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00200" y="5303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simulaciones se barren para distintos valores de Re y Ha, controlando los efectos relativos.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· Contorno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Flecha: a la izquierda y derecha 22">
            <a:extLst>
              <a:ext uri="{FF2B5EF4-FFF2-40B4-BE49-F238E27FC236}">
                <a16:creationId xmlns:a16="http://schemas.microsoft.com/office/drawing/2014/main" id="{97BFDF5F-FEA8-A9A3-CC9A-6F25874488E6}"/>
              </a:ext>
            </a:extLst>
          </p:cNvPr>
          <p:cNvSpPr/>
          <p:nvPr/>
        </p:nvSpPr>
        <p:spPr>
          <a:xfrm>
            <a:off x="739943" y="3074945"/>
            <a:ext cx="464736" cy="262615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resultado a la figura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 de trabajo automatizado en Python convierte los resultados brutos en figuras comparables. 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72184" y="2743200"/>
            <a:ext cx="731520" cy="73152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figs/ic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9" y="291876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56616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Simulación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3977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.pvtu / VTK con velocidad, presión, j y φ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27248" y="31089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29000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34256" y="2743200"/>
            <a:ext cx="731520" cy="73152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figs/ic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21" y="29187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56616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ParaView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977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mallas y PlotOverLine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89320" y="31089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291072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196328" y="2743200"/>
            <a:ext cx="731520" cy="73152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figs/ic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1893" y="291876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73952" y="356616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977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Matplotlib: perfiles automáticos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851392" y="31089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153144" y="246888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10058400" y="2743200"/>
            <a:ext cx="731520" cy="73152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figs/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3965" y="2918765"/>
            <a:ext cx="380390" cy="3803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36024" y="356616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336024" y="397764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2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Superposición con datos de referencia (.agr)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código abierto que permiten analizar de forma sistemática decenas de casos con distintos Ha y Re.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· Postproceso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2777947"/>
            <a:ext cx="1280160" cy="844906"/>
          </a:xfrm>
          <a:prstGeom prst="ellipse">
            <a:avLst/>
          </a:prstGeom>
          <a:ln w="17780">
            <a:solidFill>
              <a:srgbClr val="1AA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2403775"/>
            <a:ext cx="2414016" cy="1593251"/>
          </a:xfrm>
          <a:prstGeom prst="ellipse">
            <a:avLst/>
          </a:prstGeom>
          <a:ln w="17780">
            <a:solidFill>
              <a:srgbClr val="FF7A45">
                <a:alpha val="9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84464" y="2029602"/>
            <a:ext cx="3547872" cy="2341596"/>
          </a:xfrm>
          <a:prstGeom prst="ellipse">
            <a:avLst/>
          </a:prstGeom>
          <a:ln w="17780">
            <a:solidFill>
              <a:srgbClr val="1AA6C0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17536" y="1655430"/>
            <a:ext cx="4681728" cy="3089940"/>
          </a:xfrm>
          <a:prstGeom prst="ellipse">
            <a:avLst/>
          </a:prstGeom>
          <a:ln w="17780">
            <a:solidFill>
              <a:srgbClr val="FF7A45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50608" y="1281257"/>
            <a:ext cx="5815584" cy="3838285"/>
          </a:xfrm>
          <a:prstGeom prst="ellipse">
            <a:avLst/>
          </a:prstGeom>
          <a:ln w="17780">
            <a:solidFill>
              <a:srgbClr val="1AA6C0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22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400" dirty="0"/>
          </a:p>
        </p:txBody>
      </p:sp>
      <p:sp>
        <p:nvSpPr>
          <p:cNvPr id="9" name="Shape 7"/>
          <p:cNvSpPr/>
          <p:nvPr/>
        </p:nvSpPr>
        <p:spPr>
          <a:xfrm>
            <a:off x="713232" y="3063240"/>
            <a:ext cx="566928" cy="566928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figs/icw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199303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30723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6118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de Hunt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 canal rectangular entre placas paralelas con campo magnético perpendicular.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HUNT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del problema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949440" y="1783080"/>
            <a:ext cx="47091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49440" y="5806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del problema de Hunt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rectangular; el fluido circula impulsado por un gradiente de presión.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magnético uniforme perpendicular a la dirección principal del flujo.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 con condición no-slip y eléctricamente aislantes (corriente normal nula).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referencia: existen soluciones publicadas para validar el modelo numérico.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· Configuración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D0CE38F-9195-07D8-4319-ECC9B0E4F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891" y="1829334"/>
            <a:ext cx="3530781" cy="39308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HUNT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Perfiles de velocidad · efecto moderado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6364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 bajo el perfil es suave, con el máximo en el centro. Al aumentar Ha, el campo gana protagonismo: el centro se aplana y la velocidad se </a:t>
            </a:r>
            <a:r>
              <a:rPr lang="en-US" sz="1400" dirty="0" err="1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</a:t>
            </a: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</a:t>
            </a: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las paredes laterales. </a:t>
            </a:r>
            <a:r>
              <a:rPr lang="en-US" sz="14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(u, uh) coincide con la referencia (u_ref).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· Velocidad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0824EE3-06F1-87EC-4D3F-774A25598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82" y="1776406"/>
            <a:ext cx="5141995" cy="321374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F3359B6-137B-AE7E-0F6E-D367E0D0F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383" y="1836659"/>
            <a:ext cx="5095489" cy="31846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HUNT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Perfiles de velocidad · capas de Hartmann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1000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6364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10000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 elevado casi toda la sección tiene velocidad prácticamente constante. </a:t>
            </a:r>
            <a:r>
              <a:rPr lang="en-US" sz="1400" b="1" dirty="0">
                <a:solidFill>
                  <a:srgbClr val="E85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variaciones quedan confinadas en capas de Hartmann cada vez más finas (δ ∼ L/Ha) junto a las paredes. </a:t>
            </a: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justo el comportamiento esperado teóricamente para el flujo de Hartmann.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· Velocidad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53C9135-9368-36BE-354F-DDD8638DD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769" y="1766035"/>
            <a:ext cx="5099636" cy="3187272"/>
          </a:xfrm>
          <a:prstGeom prst="rect">
            <a:avLst/>
          </a:prstGeom>
        </p:spPr>
      </p:pic>
      <p:pic>
        <p:nvPicPr>
          <p:cNvPr id="21" name="Imagen 20" descr="Gráfico, Gráfico de líneas, Histograma&#10;&#10;El contenido generado por IA puede ser incorrecto.">
            <a:extLst>
              <a:ext uri="{FF2B5EF4-FFF2-40B4-BE49-F238E27FC236}">
                <a16:creationId xmlns:a16="http://schemas.microsoft.com/office/drawing/2014/main" id="{A538436B-F12C-F7C5-EA2E-1EC84C162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47" y="1766035"/>
            <a:ext cx="5099636" cy="31872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HUNT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de corriente eléctrica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corriente · Ha = 100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63640" y="51206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corriente · Ha = 1000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544068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corrientes inducidas son las responsables de la fuerza de Lorentz. Al crecer Ha la corriente se concentra cada vez más cerca de las paredes, </a:t>
            </a:r>
            <a:r>
              <a:rPr lang="en-US" sz="14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buen ajuste entre simulación (j, jh) y referencia (j_ref).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· Corriente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506FA36-22C9-ED52-D6A5-17F8F31AE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77" y="1766292"/>
            <a:ext cx="5166843" cy="322927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0BBAF7A-318F-D319-BC00-7CDB1F52C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52" y="1844920"/>
            <a:ext cx="5069055" cy="31681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HUNT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 err="1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Isolíneas</a:t>
            </a: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velocidad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129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361688" y="1828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361688" y="5129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100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174736" y="18288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174736" y="5129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= 1000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48640" y="5458968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isolíneas dan una visión global del campo de velocidad. Al aumentar Ha se agrupan junto a las paredes (fuertes gradientes en las capas de Hartmann) y se separan en el núcleo, evidenciando la redistribución del flujo por el campo magnético.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· Isolíneas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0DEF5E0-1F11-B8FF-3AA8-F09E797F9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28" y="1939636"/>
            <a:ext cx="2923863" cy="292386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2C01EF8-9A0B-CBCC-536C-A174EA5D2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986" y="1919498"/>
            <a:ext cx="2944001" cy="2944001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0DAA3D6-DBDF-B421-5F8A-635F5E645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760" y="1894372"/>
            <a:ext cx="3014392" cy="3014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2777947"/>
            <a:ext cx="1280160" cy="844906"/>
          </a:xfrm>
          <a:prstGeom prst="ellipse">
            <a:avLst/>
          </a:prstGeom>
          <a:ln w="17780">
            <a:solidFill>
              <a:srgbClr val="1AA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51392" y="2403775"/>
            <a:ext cx="2414016" cy="1593251"/>
          </a:xfrm>
          <a:prstGeom prst="ellipse">
            <a:avLst/>
          </a:prstGeom>
          <a:ln w="17780">
            <a:solidFill>
              <a:srgbClr val="FF7A45">
                <a:alpha val="9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84464" y="2029602"/>
            <a:ext cx="3547872" cy="2341596"/>
          </a:xfrm>
          <a:prstGeom prst="ellipse">
            <a:avLst/>
          </a:prstGeom>
          <a:ln w="17780">
            <a:solidFill>
              <a:srgbClr val="1AA6C0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17536" y="1655430"/>
            <a:ext cx="4681728" cy="3089940"/>
          </a:xfrm>
          <a:prstGeom prst="ellipse">
            <a:avLst/>
          </a:prstGeom>
          <a:ln w="17780">
            <a:solidFill>
              <a:srgbClr val="FF7A45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50608" y="1281257"/>
            <a:ext cx="5815584" cy="3838285"/>
          </a:xfrm>
          <a:prstGeom prst="ellipse">
            <a:avLst/>
          </a:prstGeom>
          <a:ln w="17780">
            <a:solidFill>
              <a:srgbClr val="1AA6C0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223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400" dirty="0"/>
          </a:p>
        </p:txBody>
      </p:sp>
      <p:sp>
        <p:nvSpPr>
          <p:cNvPr id="9" name="Shape 7"/>
          <p:cNvSpPr/>
          <p:nvPr/>
        </p:nvSpPr>
        <p:spPr>
          <a:xfrm>
            <a:off x="713232" y="3063240"/>
            <a:ext cx="566928" cy="566928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figs/icw_a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95" y="3199303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307238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II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61188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en expansiones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685800" y="4709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brusco de sección obliga al flujo a redistribuirse: presión, velocidad y trayectorias.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del problema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figs/expansion_ge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84015"/>
            <a:ext cx="6126480" cy="23413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 con expansión brusca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78040" y="1874520"/>
            <a:ext cx="4572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entrada constante seguida de una expansión brusca de sección.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x = −8 a x = +8, con la expansión en torno a x = 0.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magnético uniforme; no slip en las paredes; gradiente de </a:t>
            </a:r>
            <a:r>
              <a:rPr lang="en-US" sz="1400" dirty="0" err="1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</a:t>
            </a: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entrada y </a:t>
            </a:r>
            <a:r>
              <a:rPr lang="en-US" sz="1400" dirty="0" err="1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de elementos finitos adaptada para capturar los gradientes en la expansión.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barren distintos valores de Hartmann y Reynolds.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· Configuración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presión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029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presión · Ha = 1000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63640" y="5029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presión · Ha = 2000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5367528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presión disminuye a lo largo del conducto y cambia de pendiente en la expansión. </a:t>
            </a:r>
            <a:r>
              <a:rPr lang="en-US" sz="14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(línea) reproduce bien los datos de referencia para distintos N, </a:t>
            </a: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mejor ajuste para números de interacción elevados.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· Presión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752802A-644A-FDA6-02D0-3F9F0E5D6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305" y="1728216"/>
            <a:ext cx="4665535" cy="31660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DD96C0B-6B8E-EEF0-449C-BFE45E315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660" y="1691640"/>
            <a:ext cx="4756700" cy="31666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velocidad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5029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media a lo largo del tubo · Ha =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63640" y="5029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media a lo largo del tubo · Ha = 100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5367528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atravesar la expansión la velocidad cae bruscamente (mayor sección disponible). Aguas abajo el flujo se readapta hasta un nuevo </a:t>
            </a:r>
            <a:r>
              <a:rPr lang="en-US" sz="1400" dirty="0" err="1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</a:t>
            </a: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</a:t>
            </a: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· Velocidad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C536B9E-DAB4-3905-9302-D25374347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99" y="2053669"/>
            <a:ext cx="5135561" cy="256778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2238433-6680-77CE-2AAD-8E3739928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477" y="2010596"/>
            <a:ext cx="5381005" cy="26905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Líneas de corriente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· Ha =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63640" y="173736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6DEEE"/>
            </a:solidFill>
            <a:prstDash val="solid"/>
          </a:ln>
          <a:effectLst>
            <a:outerShdw blurRad="127000" dist="38100" dir="5400000" algn="bl" rotWithShape="0">
              <a:srgbClr val="1B254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263640" y="45262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· Ha = 2000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48640" y="4864608"/>
            <a:ext cx="11109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trayectorias se reorganizan al ocupar el volumen extra tras la expansión. </a:t>
            </a:r>
            <a:r>
              <a:rPr lang="en-US" sz="14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Ha bajo hay más dispersión y movimientos secundarios; al aumentar Ha las líneas se vuelven más rectilíneas y el flujo, más laminar y estable.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· Líneas de corriente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6303257-0BD0-9230-C0D1-E852E2C7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29" y="2233536"/>
            <a:ext cx="5291302" cy="181519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418E0F7-02DD-225B-D033-3090DBA49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600" y="2233536"/>
            <a:ext cx="5240992" cy="18151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75688"/>
            <a:ext cx="685800" cy="68580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figs/ic_mag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40280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Canales (Hunt)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crecer Ha el flujo se uniformiza en el centro y las capas de Hartmann se estrechan; corriente y fuerza de Lorentz explican esas modificaciones.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2075688"/>
            <a:ext cx="685800" cy="68580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figs/ic_a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24028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75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expansión redistribuye el flujo y modifica la caída de presión; las fuerzas electromagnéticas ordenan el flujo aguas abajo.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270248"/>
            <a:ext cx="685800" cy="68580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figs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34840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70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concordancia con los datos de referencia, especialmente para números de interacción elevados.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3680" y="4270248"/>
            <a:ext cx="685800" cy="68580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figs/ic_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434840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270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58368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04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ha construido un flujo completo de postproceso en Python y ParaView, reutilizable en futuros estudios MHD.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8561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Sostenibilidad y líneas futuras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5F8FE"/>
          </a:solidFill>
          <a:ln w="12700">
            <a:solidFill>
              <a:srgbClr val="D6D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1AA6C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figs/ic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22930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Sostenibilidad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íntegramente computacional, sin riesgos para personas ni entorno.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evita </a:t>
            </a:r>
            <a:r>
              <a:rPr lang="en-US" sz="1350" dirty="0" err="1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costosas</a:t>
            </a: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experimentales y ahorra materiales.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energético estimado reducido (~50 kWh) con software de código abierto.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Contribuye al desarrollo de tecnologías energéticas más sostenibles.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FF7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figs/ic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739" y="222930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7568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Líneas futuras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720840" y="29718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análisis a geometrías más complejas.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otros regímenes de flujo y nuevos rangos de parámetros.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 simulaciones 3D de mayor resolución.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frente a nuevos datos </a:t>
            </a:r>
            <a:r>
              <a:rPr lang="en-US" sz="1350" dirty="0" err="1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experimentales</a:t>
            </a: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la propria </a:t>
            </a:r>
            <a:r>
              <a:rPr lang="en-US" sz="1350" dirty="0" err="1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r>
              <a:rPr lang="en-US" sz="1350" dirty="0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E4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 y futuro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98271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· TFG · UPC–EEBE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202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17" name="Rayo 16">
            <a:extLst>
              <a:ext uri="{FF2B5EF4-FFF2-40B4-BE49-F238E27FC236}">
                <a16:creationId xmlns:a16="http://schemas.microsoft.com/office/drawing/2014/main" id="{F6B555BF-AD66-BF72-C283-52882556DEF5}"/>
              </a:ext>
            </a:extLst>
          </p:cNvPr>
          <p:cNvSpPr/>
          <p:nvPr/>
        </p:nvSpPr>
        <p:spPr>
          <a:xfrm rot="2097165">
            <a:off x="6872246" y="2187765"/>
            <a:ext cx="245829" cy="411625"/>
          </a:xfrm>
          <a:prstGeom prst="lightningBol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2900477"/>
            <a:ext cx="1463040" cy="965606"/>
          </a:xfrm>
          <a:prstGeom prst="ellipse">
            <a:avLst/>
          </a:prstGeom>
          <a:ln w="17780">
            <a:solidFill>
              <a:srgbClr val="1AA6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59952" y="2526304"/>
            <a:ext cx="2596896" cy="1713951"/>
          </a:xfrm>
          <a:prstGeom prst="ellipse">
            <a:avLst/>
          </a:prstGeom>
          <a:ln w="17780">
            <a:solidFill>
              <a:srgbClr val="FF7A45">
                <a:alpha val="9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193024" y="2152132"/>
            <a:ext cx="3730752" cy="2462296"/>
          </a:xfrm>
          <a:prstGeom prst="ellipse">
            <a:avLst/>
          </a:prstGeom>
          <a:ln w="17780">
            <a:solidFill>
              <a:srgbClr val="1AA6C0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6096" y="1777959"/>
            <a:ext cx="4864608" cy="3210641"/>
          </a:xfrm>
          <a:prstGeom prst="ellipse">
            <a:avLst/>
          </a:prstGeom>
          <a:ln w="17780">
            <a:solidFill>
              <a:srgbClr val="FF7A45">
                <a:alpha val="7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59168" y="1403787"/>
            <a:ext cx="5998464" cy="3958986"/>
          </a:xfrm>
          <a:prstGeom prst="ellipse">
            <a:avLst/>
          </a:prstGeom>
          <a:ln w="17780">
            <a:solidFill>
              <a:srgbClr val="1AA6C0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7889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777240" y="3977640"/>
            <a:ext cx="2743200" cy="0"/>
          </a:xfrm>
          <a:prstGeom prst="line">
            <a:avLst/>
          </a:prstGeom>
          <a:noFill/>
          <a:ln w="31750">
            <a:solidFill>
              <a:srgbClr val="FF7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Comabella Llavina  ·  Director: Javier Principe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numérico de flujos magnetohidrodinámicos en canales y expansiones  ·  UPC–EEBE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8622</TotalTime>
  <Words>2030</Words>
  <Application>Microsoft Office PowerPoint</Application>
  <PresentationFormat>Personalizado</PresentationFormat>
  <Paragraphs>285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numérico de flujos MHD</dc:title>
  <dc:subject>PptxGenJS Presentation</dc:subject>
  <dc:creator>Joan Comabella Llavina</dc:creator>
  <cp:lastModifiedBy>Joan Comabella</cp:lastModifiedBy>
  <cp:revision>4</cp:revision>
  <dcterms:created xsi:type="dcterms:W3CDTF">2026-06-25T17:42:09Z</dcterms:created>
  <dcterms:modified xsi:type="dcterms:W3CDTF">2026-07-01T17:43:18Z</dcterms:modified>
</cp:coreProperties>
</file>